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solidFill>
              <a:srgbClr val="07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DejaVu Sans Mono"/>
              </a:defRPr>
            </a:pPr>
            <a:r>
              <a:t>SLIDE 01 · DELIVERY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5778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900" b="1">
                <a:solidFill>
                  <a:srgbClr val="F8FAFC"/>
                </a:solidFill>
                <a:latin typeface="Inter"/>
              </a:defRPr>
            </a:pPr>
            <a:r>
              <a:t>Từ ý tưởng đến sản phẩm với Cursor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60704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50" b="0">
                <a:solidFill>
                  <a:srgbClr val="9AA9BC"/>
                </a:solidFill>
                <a:latin typeface="Inter"/>
              </a:defRPr>
            </a:pPr>
            <a:r>
              <a:t>Human giữ quyền quyết định; Rule, Skill, Agent và CI đảm nhiệm các lớp khác nhau.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6510528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850" b="0">
                <a:solidFill>
                  <a:srgbClr val="9AA9BC"/>
                </a:solidFill>
                <a:latin typeface="DejaVu Sans Mono"/>
              </a:defRPr>
            </a:pPr>
            <a:r>
              <a:t>MARKHAND × CURSOR  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572768"/>
            <a:ext cx="1307592" cy="1353312"/>
          </a:xfrm>
          <a:prstGeom prst="roundRect">
            <a:avLst/>
          </a:prstGeom>
          <a:solidFill>
            <a:srgbClr val="0F1C2E"/>
          </a:solidFill>
          <a:ln w="12700">
            <a:solidFill>
              <a:srgbClr val="26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1572768"/>
            <a:ext cx="130759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719072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DejaVu Sans Mono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975104"/>
            <a:ext cx="103327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Inter"/>
              </a:defRPr>
            </a:pPr>
            <a:r>
              <a:t>Brainstorm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404872"/>
            <a:ext cx="1033271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9AA9BC"/>
                </a:solidFill>
                <a:latin typeface="Inter"/>
              </a:defRPr>
            </a:pPr>
            <a:r>
              <a:t>Mục tiêu • phương án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93392" y="1572768"/>
            <a:ext cx="1188720" cy="1353312"/>
          </a:xfrm>
          <a:prstGeom prst="roundRect">
            <a:avLst/>
          </a:prstGeom>
          <a:solidFill>
            <a:srgbClr val="0F1C2E"/>
          </a:solidFill>
          <a:ln w="12700">
            <a:solidFill>
              <a:srgbClr val="26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93392" y="1572768"/>
            <a:ext cx="118872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30552" y="1719072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DejaVu Sans Mono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0552" y="1975104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Inter"/>
              </a:defRPr>
            </a:pPr>
            <a: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0552" y="2404872"/>
            <a:ext cx="91440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9AA9BC"/>
                </a:solidFill>
                <a:latin typeface="Inter"/>
              </a:defRPr>
            </a:pPr>
            <a:r>
              <a:t>Scope • rủi 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92424" y="1572768"/>
            <a:ext cx="1252728" cy="1353312"/>
          </a:xfrm>
          <a:prstGeom prst="roundRect">
            <a:avLst/>
          </a:prstGeom>
          <a:solidFill>
            <a:srgbClr val="0F1C2E"/>
          </a:solidFill>
          <a:ln w="12700">
            <a:solidFill>
              <a:srgbClr val="26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92424" y="1572768"/>
            <a:ext cx="125272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9584" y="1719072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DejaVu Sans Mono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9584" y="1975104"/>
            <a:ext cx="97840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Inter"/>
              </a:defRPr>
            </a:pPr>
            <a:r>
              <a:t>Phase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9584" y="2404872"/>
            <a:ext cx="978408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9AA9BC"/>
                </a:solidFill>
                <a:latin typeface="Inter"/>
              </a:defRPr>
            </a:pPr>
            <a:r>
              <a:t>Gate • dependency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55464" y="1572768"/>
            <a:ext cx="1389888" cy="1353312"/>
          </a:xfrm>
          <a:prstGeom prst="roundRect">
            <a:avLst/>
          </a:prstGeom>
          <a:solidFill>
            <a:srgbClr val="0F1C2E"/>
          </a:solidFill>
          <a:ln w="12700">
            <a:solidFill>
              <a:srgbClr val="26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55464" y="1572768"/>
            <a:ext cx="1389888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92624" y="1719072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DejaVu Sans Mono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92624" y="1975104"/>
            <a:ext cx="11155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Inter"/>
              </a:defRPr>
            </a:pPr>
            <a:r>
              <a:t>Issue 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2624" y="2404872"/>
            <a:ext cx="1115568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9AA9BC"/>
                </a:solidFill>
                <a:latin typeface="Inter"/>
              </a:defRPr>
            </a:pPr>
            <a:r>
              <a:t>AC • evidence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55664" y="1572768"/>
            <a:ext cx="1417320" cy="1353312"/>
          </a:xfrm>
          <a:prstGeom prst="roundRect">
            <a:avLst/>
          </a:prstGeom>
          <a:solidFill>
            <a:srgbClr val="0F1C2E"/>
          </a:solidFill>
          <a:ln w="12700">
            <a:solidFill>
              <a:srgbClr val="26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55664" y="1572768"/>
            <a:ext cx="141732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92824" y="1719072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DejaVu Sans Mono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92824" y="1975104"/>
            <a:ext cx="1143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Inter"/>
              </a:defRPr>
            </a:pPr>
            <a:r>
              <a:t>Orchestrate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2824" y="2404872"/>
            <a:ext cx="114300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9AA9BC"/>
                </a:solidFill>
                <a:latin typeface="Inter"/>
              </a:defRPr>
            </a:pPr>
            <a:r>
              <a:t>Phân vai độc lập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83296" y="1572768"/>
            <a:ext cx="1389888" cy="1353312"/>
          </a:xfrm>
          <a:prstGeom prst="roundRect">
            <a:avLst/>
          </a:prstGeom>
          <a:solidFill>
            <a:srgbClr val="0F1C2E"/>
          </a:solidFill>
          <a:ln w="12700">
            <a:solidFill>
              <a:srgbClr val="26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83296" y="1572768"/>
            <a:ext cx="1389888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0456" y="1719072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DejaVu Sans Mono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0456" y="1975104"/>
            <a:ext cx="11155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Inter"/>
              </a:defRPr>
            </a:pPr>
            <a:r>
              <a:t>PR + CI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0456" y="2404872"/>
            <a:ext cx="1115568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9AA9BC"/>
                </a:solidFill>
                <a:latin typeface="Inter"/>
              </a:defRPr>
            </a:pPr>
            <a:r>
              <a:t>Review • quality gate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83496" y="1572768"/>
            <a:ext cx="1298448" cy="1353312"/>
          </a:xfrm>
          <a:prstGeom prst="roundRect">
            <a:avLst/>
          </a:prstGeom>
          <a:solidFill>
            <a:srgbClr val="0F1C2E"/>
          </a:solidFill>
          <a:ln w="12700">
            <a:solidFill>
              <a:srgbClr val="26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83496" y="1572768"/>
            <a:ext cx="1298448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20656" y="1719072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DejaVu Sans Mono"/>
              </a:defRPr>
            </a:pPr>
            <a: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0656" y="1975104"/>
            <a:ext cx="10241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Inter"/>
              </a:defRPr>
            </a:pPr>
            <a:r>
              <a:t>Done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0656" y="2404872"/>
            <a:ext cx="1024127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9AA9BC"/>
                </a:solidFill>
                <a:latin typeface="Inter"/>
              </a:defRPr>
            </a:pPr>
            <a:r>
              <a:t>Evidence đầy đủ</a:t>
            </a:r>
          </a:p>
        </p:txBody>
      </p:sp>
      <p:sp>
        <p:nvSpPr>
          <p:cNvPr id="43" name="Chevron 42"/>
          <p:cNvSpPr/>
          <p:nvPr/>
        </p:nvSpPr>
        <p:spPr>
          <a:xfrm>
            <a:off x="1828800" y="2084831"/>
            <a:ext cx="164592" cy="310896"/>
          </a:xfrm>
          <a:prstGeom prst="chevron">
            <a:avLst/>
          </a:prstGeom>
          <a:solidFill>
            <a:srgbClr val="9AA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evron 43"/>
          <p:cNvSpPr/>
          <p:nvPr/>
        </p:nvSpPr>
        <p:spPr>
          <a:xfrm>
            <a:off x="3227832" y="2084831"/>
            <a:ext cx="164592" cy="310896"/>
          </a:xfrm>
          <a:prstGeom prst="chevron">
            <a:avLst/>
          </a:prstGeom>
          <a:solidFill>
            <a:srgbClr val="9AA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evron 44"/>
          <p:cNvSpPr/>
          <p:nvPr/>
        </p:nvSpPr>
        <p:spPr>
          <a:xfrm>
            <a:off x="4690872" y="2084831"/>
            <a:ext cx="164592" cy="310896"/>
          </a:xfrm>
          <a:prstGeom prst="chevron">
            <a:avLst/>
          </a:prstGeom>
          <a:solidFill>
            <a:srgbClr val="9AA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evron 45"/>
          <p:cNvSpPr/>
          <p:nvPr/>
        </p:nvSpPr>
        <p:spPr>
          <a:xfrm>
            <a:off x="6291072" y="2084831"/>
            <a:ext cx="164592" cy="310896"/>
          </a:xfrm>
          <a:prstGeom prst="chevron">
            <a:avLst/>
          </a:prstGeom>
          <a:solidFill>
            <a:srgbClr val="9AA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evron 46"/>
          <p:cNvSpPr/>
          <p:nvPr/>
        </p:nvSpPr>
        <p:spPr>
          <a:xfrm>
            <a:off x="7918704" y="2084831"/>
            <a:ext cx="164592" cy="310896"/>
          </a:xfrm>
          <a:prstGeom prst="chevron">
            <a:avLst/>
          </a:prstGeom>
          <a:solidFill>
            <a:srgbClr val="9AA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evron 47"/>
          <p:cNvSpPr/>
          <p:nvPr/>
        </p:nvSpPr>
        <p:spPr>
          <a:xfrm>
            <a:off x="9518904" y="2084831"/>
            <a:ext cx="164592" cy="310896"/>
          </a:xfrm>
          <a:prstGeom prst="chevron">
            <a:avLst/>
          </a:prstGeom>
          <a:solidFill>
            <a:srgbClr val="9AA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45936" y="3218688"/>
            <a:ext cx="932688" cy="438912"/>
          </a:xfrm>
          <a:prstGeom prst="roundRect">
            <a:avLst/>
          </a:prstGeom>
          <a:solidFill>
            <a:srgbClr val="1223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33488" y="3218688"/>
            <a:ext cx="1078992" cy="438912"/>
          </a:xfrm>
          <a:prstGeom prst="roundRect">
            <a:avLst/>
          </a:prstGeom>
          <a:solidFill>
            <a:srgbClr val="12233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467344" y="3218688"/>
            <a:ext cx="932688" cy="438912"/>
          </a:xfrm>
          <a:prstGeom prst="roundRect">
            <a:avLst/>
          </a:prstGeom>
          <a:solidFill>
            <a:srgbClr val="12233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45936" y="3218688"/>
            <a:ext cx="9326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  <a:latin typeface="Inter"/>
              </a:defRPr>
            </a:pPr>
            <a:r>
              <a:t>Planner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33488" y="3218688"/>
            <a:ext cx="107899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  <a:latin typeface="Inter"/>
              </a:defRPr>
            </a:pPr>
            <a:r>
              <a:t>Implementer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67344" y="3218688"/>
            <a:ext cx="9326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  <a:latin typeface="Inter"/>
              </a:defRPr>
            </a:pPr>
            <a:r>
              <a:t>Reviewer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168896" y="2926080"/>
            <a:ext cx="0" cy="164592"/>
          </a:xfrm>
          <a:prstGeom prst="line">
            <a:avLst/>
          </a:prstGeom>
          <a:ln w="19050">
            <a:solidFill>
              <a:srgbClr val="2639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812280" y="3090672"/>
            <a:ext cx="2121408" cy="0"/>
          </a:xfrm>
          <a:prstGeom prst="line">
            <a:avLst/>
          </a:prstGeom>
          <a:ln w="19050">
            <a:solidFill>
              <a:srgbClr val="2639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475488" y="4059936"/>
            <a:ext cx="11237976" cy="1435608"/>
          </a:xfrm>
          <a:prstGeom prst="roundRect">
            <a:avLst/>
          </a:prstGeom>
          <a:solidFill>
            <a:srgbClr val="122338"/>
          </a:solidFill>
          <a:ln w="12700">
            <a:solidFill>
              <a:srgbClr val="26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8" y="4325112"/>
            <a:ext cx="7680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DejaVu Sans Mono"/>
              </a:defRPr>
            </a:pPr>
            <a:r>
              <a:t>RULE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" y="4590288"/>
            <a:ext cx="28346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Inter"/>
              </a:defRPr>
            </a:pPr>
            <a:r>
              <a:t>Guardrails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4882896"/>
            <a:ext cx="2907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050" b="0">
                <a:solidFill>
                  <a:srgbClr val="9AA9BC"/>
                </a:solidFill>
                <a:latin typeface="Inter"/>
              </a:defRPr>
            </a:pPr>
            <a:r>
              <a:t>Kiến trúc, bảo mật và giới hạn luôn đúng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25112" y="4325112"/>
            <a:ext cx="7680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DejaVu Sans Mono"/>
              </a:defRPr>
            </a:pPr>
            <a:r>
              <a:t>SKILL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25112" y="4590288"/>
            <a:ext cx="28346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Inter"/>
              </a:defRPr>
            </a:pPr>
            <a:r>
              <a:t>Workflow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25112" y="4882896"/>
            <a:ext cx="2907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050" b="0">
                <a:solidFill>
                  <a:srgbClr val="9AA9BC"/>
                </a:solidFill>
                <a:latin typeface="Inter"/>
              </a:defRPr>
            </a:pPr>
            <a:r>
              <a:t>Cách thực hiện một loại công việc lặp lại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00416" y="4325112"/>
            <a:ext cx="7680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DejaVu Sans Mono"/>
              </a:defRPr>
            </a:pPr>
            <a:r>
              <a:t>HUMAN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00416" y="4590288"/>
            <a:ext cx="28346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Inter"/>
              </a:defRPr>
            </a:pPr>
            <a:r>
              <a:t>Approval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00416" y="4882896"/>
            <a:ext cx="2907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050" b="0">
                <a:solidFill>
                  <a:srgbClr val="9AA9BC"/>
                </a:solidFill>
                <a:latin typeface="Inter"/>
              </a:defRPr>
            </a:pPr>
            <a:r>
              <a:t>Duyệt scope, plan, merge và release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580644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Inter"/>
              </a:defRPr>
            </a:pPr>
            <a:r>
              <a:t>Merge ≠ Done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39696" y="580644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Inter"/>
              </a:defRPr>
            </a:pPr>
            <a:r>
              <a:t>Done chỉ khi acceptance criteria và evidence đều hoàn tất.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solidFill>
              <a:srgbClr val="07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5603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DejaVu Sans Mono"/>
              </a:defRPr>
            </a:pPr>
            <a:r>
              <a:t>SLIDE 02 · REPOSITORY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57784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900" b="1">
                <a:solidFill>
                  <a:srgbClr val="F8FAFC"/>
                </a:solidFill>
                <a:latin typeface="Inter"/>
              </a:defRPr>
            </a:pPr>
            <a:r>
              <a:t>Repository là nguồn sự thật cho người và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60704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50" b="0">
                <a:solidFill>
                  <a:srgbClr val="9AA9BC"/>
                </a:solidFill>
                <a:latin typeface="Inter"/>
              </a:defRPr>
            </a:pPr>
            <a:r>
              <a:t>Mỗi loại tài liệu có một nhiệm vụ: context → quyết định → delivery → automation.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6510528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850" b="0">
                <a:solidFill>
                  <a:srgbClr val="9AA9BC"/>
                </a:solidFill>
                <a:latin typeface="DejaVu Sans Mono"/>
              </a:defRPr>
            </a:pPr>
            <a:r>
              <a:t>MARKHAND × CURSOR  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691640"/>
            <a:ext cx="2084831" cy="1243584"/>
          </a:xfrm>
          <a:prstGeom prst="roundRect">
            <a:avLst/>
          </a:prstGeom>
          <a:solidFill>
            <a:srgbClr val="0F1C2E"/>
          </a:solidFill>
          <a:ln w="12700">
            <a:solidFill>
              <a:srgbClr val="26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847088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DejaVu Sans Mono"/>
              </a:defRPr>
            </a:pPr>
            <a:r>
              <a:t>01 ·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130552"/>
            <a:ext cx="18105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DejaVu Sans Mono"/>
              </a:defRPr>
            </a:pPr>
            <a:r>
              <a:t>AGENTS.md</a:t>
            </a:r>
            <a:br/>
            <a:r>
              <a:t>CLAUDE.md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505456"/>
            <a:ext cx="1810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9AA9BC"/>
                </a:solidFill>
                <a:latin typeface="Inter"/>
              </a:defRPr>
            </a:pPr>
            <a:r>
              <a:t>Kiến trúc • giới hạn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1488" y="1691640"/>
            <a:ext cx="2084831" cy="1243584"/>
          </a:xfrm>
          <a:prstGeom prst="roundRect">
            <a:avLst/>
          </a:prstGeom>
          <a:solidFill>
            <a:srgbClr val="0F1C2E"/>
          </a:solidFill>
          <a:ln w="12700">
            <a:solidFill>
              <a:srgbClr val="26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1847088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DejaVu Sans Mono"/>
              </a:defRPr>
            </a:pPr>
            <a:r>
              <a:t>02 ·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2130552"/>
            <a:ext cx="18105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DejaVu Sans Mono"/>
              </a:defRPr>
            </a:pPr>
            <a:r>
              <a:t>plans/reports/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2505456"/>
            <a:ext cx="1810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9AA9BC"/>
                </a:solidFill>
                <a:latin typeface="Inter"/>
              </a:defRPr>
            </a:pPr>
            <a:r>
              <a:t>Brainstorm đã duyệt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7488" y="1691640"/>
            <a:ext cx="2084831" cy="1243584"/>
          </a:xfrm>
          <a:prstGeom prst="roundRect">
            <a:avLst/>
          </a:prstGeom>
          <a:solidFill>
            <a:srgbClr val="0F1C2E"/>
          </a:solidFill>
          <a:ln w="12700">
            <a:solidFill>
              <a:srgbClr val="26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4648" y="1847088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DejaVu Sans Mono"/>
              </a:defRPr>
            </a:pPr>
            <a:r>
              <a:t>03 ·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2130552"/>
            <a:ext cx="18105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DejaVu Sans Mono"/>
              </a:defRPr>
            </a:pPr>
            <a:r>
              <a:t>plans/markhand-web/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505456"/>
            <a:ext cx="1810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9AA9BC"/>
                </a:solidFill>
                <a:latin typeface="Inter"/>
              </a:defRPr>
            </a:pPr>
            <a:r>
              <a:t>Phase • milestone • gate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33488" y="1691640"/>
            <a:ext cx="2084831" cy="1243584"/>
          </a:xfrm>
          <a:prstGeom prst="roundRect">
            <a:avLst/>
          </a:prstGeom>
          <a:solidFill>
            <a:srgbClr val="0F1C2E"/>
          </a:solidFill>
          <a:ln w="12700">
            <a:solidFill>
              <a:srgbClr val="26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0648" y="1847088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DejaVu Sans Mono"/>
              </a:defRPr>
            </a:pPr>
            <a:r>
              <a:t>04 · 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0648" y="2130552"/>
            <a:ext cx="18105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DejaVu Sans Mono"/>
              </a:defRPr>
            </a:pPr>
            <a:r>
              <a:t>backlog/ + docs/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2505456"/>
            <a:ext cx="1810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9AA9BC"/>
                </a:solidFill>
                <a:latin typeface="Inter"/>
              </a:defRPr>
            </a:pPr>
            <a:r>
              <a:t>Issue • Ready/Done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19488" y="1691640"/>
            <a:ext cx="2084831" cy="1243584"/>
          </a:xfrm>
          <a:prstGeom prst="roundRect">
            <a:avLst/>
          </a:prstGeom>
          <a:solidFill>
            <a:srgbClr val="0F1C2E"/>
          </a:solidFill>
          <a:ln w="12700">
            <a:solidFill>
              <a:srgbClr val="26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56648" y="1847088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DejaVu Sans Mono"/>
              </a:defRPr>
            </a:pPr>
            <a:r>
              <a:t>05 · EXECUTION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2130552"/>
            <a:ext cx="18105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  <a:latin typeface="DejaVu Sans Mono"/>
              </a:defRPr>
            </a:pPr>
            <a:r>
              <a:t>.cursor/ + .github/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6648" y="2505456"/>
            <a:ext cx="1810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9AA9BC"/>
                </a:solidFill>
                <a:latin typeface="Inter"/>
              </a:defRPr>
            </a:pPr>
            <a:r>
              <a:t>Rule • Skill • CI</a:t>
            </a:r>
          </a:p>
        </p:txBody>
      </p:sp>
      <p:sp>
        <p:nvSpPr>
          <p:cNvPr id="28" name="Chevron 27"/>
          <p:cNvSpPr/>
          <p:nvPr/>
        </p:nvSpPr>
        <p:spPr>
          <a:xfrm>
            <a:off x="2542032" y="2139696"/>
            <a:ext cx="164592" cy="310896"/>
          </a:xfrm>
          <a:prstGeom prst="chevron">
            <a:avLst/>
          </a:prstGeom>
          <a:solidFill>
            <a:srgbClr val="9AA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evron 28"/>
          <p:cNvSpPr/>
          <p:nvPr/>
        </p:nvSpPr>
        <p:spPr>
          <a:xfrm>
            <a:off x="4828032" y="2139696"/>
            <a:ext cx="164592" cy="310896"/>
          </a:xfrm>
          <a:prstGeom prst="chevron">
            <a:avLst/>
          </a:prstGeom>
          <a:solidFill>
            <a:srgbClr val="9AA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evron 29"/>
          <p:cNvSpPr/>
          <p:nvPr/>
        </p:nvSpPr>
        <p:spPr>
          <a:xfrm>
            <a:off x="7114032" y="2139696"/>
            <a:ext cx="164592" cy="310896"/>
          </a:xfrm>
          <a:prstGeom prst="chevron">
            <a:avLst/>
          </a:prstGeom>
          <a:solidFill>
            <a:srgbClr val="9AA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evron 30"/>
          <p:cNvSpPr/>
          <p:nvPr/>
        </p:nvSpPr>
        <p:spPr>
          <a:xfrm>
            <a:off x="9400032" y="2139696"/>
            <a:ext cx="164592" cy="310896"/>
          </a:xfrm>
          <a:prstGeom prst="chevron">
            <a:avLst/>
          </a:prstGeom>
          <a:solidFill>
            <a:srgbClr val="9AA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5488" y="3383280"/>
            <a:ext cx="11228832" cy="2029968"/>
          </a:xfrm>
          <a:prstGeom prst="roundRect">
            <a:avLst/>
          </a:prstGeom>
          <a:solidFill>
            <a:srgbClr val="122338"/>
          </a:solidFill>
          <a:ln w="12700">
            <a:solidFill>
              <a:srgbClr val="263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3703320"/>
            <a:ext cx="252374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Inter"/>
              </a:defRPr>
            </a:pPr>
            <a:r>
              <a:t>Agent đọc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4069080"/>
            <a:ext cx="252374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Inter"/>
              </a:defRPr>
            </a:pPr>
            <a:r>
              <a:t>Context + constraints</a:t>
            </a:r>
            <a:br/>
            <a:r>
              <a:t>Issue + acceptance criteria</a:t>
            </a:r>
          </a:p>
        </p:txBody>
      </p:sp>
      <p:sp>
        <p:nvSpPr>
          <p:cNvPr id="35" name="Chevron 34"/>
          <p:cNvSpPr/>
          <p:nvPr/>
        </p:nvSpPr>
        <p:spPr>
          <a:xfrm>
            <a:off x="3401568" y="4151376"/>
            <a:ext cx="164592" cy="310896"/>
          </a:xfrm>
          <a:prstGeom prst="chevron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67328" y="3703320"/>
            <a:ext cx="252374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Inter"/>
              </a:defRPr>
            </a:pPr>
            <a:r>
              <a:t>Agent thực hiện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67328" y="4069080"/>
            <a:ext cx="252374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Inter"/>
              </a:defRPr>
            </a:pPr>
            <a:r>
              <a:t>Plan → code → review</a:t>
            </a:r>
            <a:br/>
            <a:r>
              <a:t>Theo Rule và Skill</a:t>
            </a:r>
          </a:p>
        </p:txBody>
      </p:sp>
      <p:sp>
        <p:nvSpPr>
          <p:cNvPr id="38" name="Chevron 37"/>
          <p:cNvSpPr/>
          <p:nvPr/>
        </p:nvSpPr>
        <p:spPr>
          <a:xfrm>
            <a:off x="6409944" y="4151376"/>
            <a:ext cx="164592" cy="310896"/>
          </a:xfrm>
          <a:prstGeom prst="chevron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84848" y="3703320"/>
            <a:ext cx="252374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Inter"/>
              </a:defRPr>
            </a:pPr>
            <a:r>
              <a:t>Repository lưu lại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4848" y="4069080"/>
            <a:ext cx="252374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Inter"/>
              </a:defRPr>
            </a:pPr>
            <a:r>
              <a:t>Commit + PR + CI</a:t>
            </a:r>
            <a:br/>
            <a:r>
              <a:t>evidence có version</a:t>
            </a:r>
          </a:p>
        </p:txBody>
      </p:sp>
      <p:sp>
        <p:nvSpPr>
          <p:cNvPr id="41" name="Chevron 40"/>
          <p:cNvSpPr/>
          <p:nvPr/>
        </p:nvSpPr>
        <p:spPr>
          <a:xfrm>
            <a:off x="9427464" y="4151376"/>
            <a:ext cx="164592" cy="310896"/>
          </a:xfrm>
          <a:prstGeom prst="chevron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02368" y="3703320"/>
            <a:ext cx="14447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Inter"/>
              </a:defRPr>
            </a:pPr>
            <a:r>
              <a:t>GitHub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02368" y="4069080"/>
            <a:ext cx="14447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Inter"/>
              </a:defRPr>
            </a:pPr>
            <a:r>
              <a:t>Milestone • Issue</a:t>
            </a:r>
            <a:br/>
            <a:r>
              <a:t>PR • Check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8064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Inter"/>
              </a:defRPr>
            </a:pPr>
            <a:r>
              <a:t>Agent không tự “nhớ” dự án.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10128" y="5806440"/>
            <a:ext cx="7543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Inter"/>
              </a:defRPr>
            </a:pPr>
            <a:r>
              <a:t>Repository cung cấp context, quy trình và bằng chứng có version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Cursor workflow — Markhand training</dc:title>
  <dc:subject>Two-slide workflow and repository knowledge overview</dc:subject>
  <dc:creator>Markhand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